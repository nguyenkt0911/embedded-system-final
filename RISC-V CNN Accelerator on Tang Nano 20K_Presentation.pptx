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IBM Plex Mono Bold" panose="020B0604020202020204" charset="0"/>
      <p:regular r:id="rId16"/>
    </p:embeddedFont>
    <p:embeddedFont>
      <p:font typeface="IBM Plex Sans" panose="020F0502020204030204" pitchFamily="34" charset="0"/>
      <p:regular r:id="rId17"/>
    </p:embeddedFont>
    <p:embeddedFont>
      <p:font typeface="IBM Plex Sans Bold" panose="020B0604020202020204" charset="0"/>
      <p:regular r:id="rId18"/>
    </p:embeddedFont>
    <p:embeddedFont>
      <p:font typeface="Sinar Grotesk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guyenKT0911/Embedded-system-fina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playlist?list=PLU8j17gnRm0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58875" y="1428750"/>
            <a:ext cx="3143250" cy="6381750"/>
            <a:chOff x="0" y="0"/>
            <a:chExt cx="4191000" cy="8509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000" cy="8509000"/>
            </a:xfrm>
            <a:custGeom>
              <a:avLst/>
              <a:gdLst/>
              <a:ahLst/>
              <a:cxnLst/>
              <a:rect l="l" t="t" r="r" b="b"/>
              <a:pathLst>
                <a:path w="4191000" h="8509000">
                  <a:moveTo>
                    <a:pt x="0" y="0"/>
                  </a:moveTo>
                  <a:lnTo>
                    <a:pt x="4191000" y="0"/>
                  </a:lnTo>
                  <a:lnTo>
                    <a:pt x="4191000" y="8509000"/>
                  </a:lnTo>
                  <a:lnTo>
                    <a:pt x="0" y="8509000"/>
                  </a:lnTo>
                  <a:close/>
                </a:path>
              </a:pathLst>
            </a:custGeom>
            <a:solidFill>
              <a:srgbClr val="0D2238"/>
            </a:solidFill>
            <a:ln w="28575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1000" cy="854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25625" y="2381250"/>
            <a:ext cx="1809750" cy="4476750"/>
            <a:chOff x="0" y="0"/>
            <a:chExt cx="2413000" cy="596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3000" cy="5969000"/>
            </a:xfrm>
            <a:custGeom>
              <a:avLst/>
              <a:gdLst/>
              <a:ahLst/>
              <a:cxnLst/>
              <a:rect l="l" t="t" r="r" b="b"/>
              <a:pathLst>
                <a:path w="2413000" h="5969000">
                  <a:moveTo>
                    <a:pt x="0" y="0"/>
                  </a:moveTo>
                  <a:lnTo>
                    <a:pt x="2413000" y="0"/>
                  </a:lnTo>
                  <a:lnTo>
                    <a:pt x="2413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071525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3000" cy="60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4173200" y="2000250"/>
            <a:ext cx="0" cy="5238750"/>
          </a:xfrm>
          <a:prstGeom prst="line">
            <a:avLst/>
          </a:prstGeom>
          <a:ln w="47625" cap="flat">
            <a:solidFill>
              <a:srgbClr val="2F8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87800" y="2000250"/>
            <a:ext cx="0" cy="5238750"/>
          </a:xfrm>
          <a:prstGeom prst="line">
            <a:avLst/>
          </a:prstGeom>
          <a:ln w="47625" cap="flat">
            <a:solidFill>
              <a:srgbClr val="63F0C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66800" y="1638300"/>
            <a:ext cx="9525000" cy="270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RISC-V Controlled</a:t>
            </a:r>
          </a:p>
          <a:p>
            <a:pPr algn="l">
              <a:lnSpc>
                <a:spcPts val="7038"/>
              </a:lnSpc>
            </a:pPr>
            <a:r>
              <a:rPr lang="en-US" sz="69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INT8 CNN Accelerator</a:t>
            </a:r>
          </a:p>
          <a:p>
            <a:pPr algn="l">
              <a:lnSpc>
                <a:spcPts val="7038"/>
              </a:lnSpc>
            </a:pPr>
            <a:r>
              <a:rPr lang="en-US" sz="69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on FPGA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7105650"/>
            <a:ext cx="9525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63F0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Tang Nano 20K  •  RV32I  •  INT8 CNN  •  microSD  •  UART  •  HDMI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6800" y="8353425"/>
            <a:ext cx="952500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 7  |  Ho Chi Minh City University of Technology and Engineering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42950"/>
            <a:ext cx="14287500" cy="66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4725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From a Fixed Demo to a Reloadable Edge AI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solution separates fixed hardware, reloadable firmware and replaceable AI data.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24000" y="3524250"/>
            <a:ext cx="5143500" cy="2286000"/>
            <a:chOff x="0" y="0"/>
            <a:chExt cx="6858000" cy="304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58000" cy="3048000"/>
            </a:xfrm>
            <a:custGeom>
              <a:avLst/>
              <a:gdLst/>
              <a:ahLst/>
              <a:cxnLst/>
              <a:rect l="l" t="t" r="r" b="b"/>
              <a:pathLst>
                <a:path w="6858000" h="3048000">
                  <a:moveTo>
                    <a:pt x="23519" y="0"/>
                  </a:moveTo>
                  <a:lnTo>
                    <a:pt x="6834481" y="0"/>
                  </a:lnTo>
                  <a:cubicBezTo>
                    <a:pt x="6840719" y="0"/>
                    <a:pt x="6846701" y="2478"/>
                    <a:pt x="6851111" y="6888"/>
                  </a:cubicBezTo>
                  <a:cubicBezTo>
                    <a:pt x="6855522" y="11299"/>
                    <a:pt x="6858000" y="17281"/>
                    <a:pt x="6858000" y="23519"/>
                  </a:cubicBezTo>
                  <a:lnTo>
                    <a:pt x="6858000" y="3024481"/>
                  </a:lnTo>
                  <a:cubicBezTo>
                    <a:pt x="6858000" y="3030719"/>
                    <a:pt x="6855522" y="3036701"/>
                    <a:pt x="6851111" y="3041112"/>
                  </a:cubicBezTo>
                  <a:cubicBezTo>
                    <a:pt x="6846701" y="3045522"/>
                    <a:pt x="6840719" y="3048000"/>
                    <a:pt x="6834481" y="3048000"/>
                  </a:cubicBezTo>
                  <a:lnTo>
                    <a:pt x="23519" y="3048000"/>
                  </a:lnTo>
                  <a:cubicBezTo>
                    <a:pt x="17281" y="3048000"/>
                    <a:pt x="11299" y="3045522"/>
                    <a:pt x="6888" y="3041112"/>
                  </a:cubicBezTo>
                  <a:cubicBezTo>
                    <a:pt x="2478" y="3036701"/>
                    <a:pt x="0" y="3030719"/>
                    <a:pt x="0" y="3024481"/>
                  </a:cubicBezTo>
                  <a:lnTo>
                    <a:pt x="0" y="23519"/>
                  </a:lnTo>
                  <a:cubicBezTo>
                    <a:pt x="0" y="17281"/>
                    <a:pt x="2478" y="11299"/>
                    <a:pt x="6888" y="6888"/>
                  </a:cubicBezTo>
                  <a:cubicBezTo>
                    <a:pt x="11299" y="2478"/>
                    <a:pt x="17281" y="0"/>
                    <a:pt x="23519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FF8A3D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6858000" cy="3038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FIXED HARDWARE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bitstream in external Flash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20500" y="3524250"/>
            <a:ext cx="5143500" cy="2286000"/>
            <a:chOff x="0" y="0"/>
            <a:chExt cx="6858000" cy="304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58000" cy="3048000"/>
            </a:xfrm>
            <a:custGeom>
              <a:avLst/>
              <a:gdLst/>
              <a:ahLst/>
              <a:cxnLst/>
              <a:rect l="l" t="t" r="r" b="b"/>
              <a:pathLst>
                <a:path w="6858000" h="3048000">
                  <a:moveTo>
                    <a:pt x="23519" y="0"/>
                  </a:moveTo>
                  <a:lnTo>
                    <a:pt x="6834481" y="0"/>
                  </a:lnTo>
                  <a:cubicBezTo>
                    <a:pt x="6840719" y="0"/>
                    <a:pt x="6846701" y="2478"/>
                    <a:pt x="6851111" y="6888"/>
                  </a:cubicBezTo>
                  <a:cubicBezTo>
                    <a:pt x="6855522" y="11299"/>
                    <a:pt x="6858000" y="17281"/>
                    <a:pt x="6858000" y="23519"/>
                  </a:cubicBezTo>
                  <a:lnTo>
                    <a:pt x="6858000" y="3024481"/>
                  </a:lnTo>
                  <a:cubicBezTo>
                    <a:pt x="6858000" y="3030719"/>
                    <a:pt x="6855522" y="3036701"/>
                    <a:pt x="6851111" y="3041112"/>
                  </a:cubicBezTo>
                  <a:cubicBezTo>
                    <a:pt x="6846701" y="3045522"/>
                    <a:pt x="6840719" y="3048000"/>
                    <a:pt x="6834481" y="3048000"/>
                  </a:cubicBezTo>
                  <a:lnTo>
                    <a:pt x="23519" y="3048000"/>
                  </a:lnTo>
                  <a:cubicBezTo>
                    <a:pt x="17281" y="3048000"/>
                    <a:pt x="11299" y="3045522"/>
                    <a:pt x="6888" y="3041112"/>
                  </a:cubicBezTo>
                  <a:cubicBezTo>
                    <a:pt x="2478" y="3036701"/>
                    <a:pt x="0" y="3030719"/>
                    <a:pt x="0" y="3024481"/>
                  </a:cubicBezTo>
                  <a:lnTo>
                    <a:pt x="0" y="23519"/>
                  </a:lnTo>
                  <a:cubicBezTo>
                    <a:pt x="0" y="17281"/>
                    <a:pt x="2478" y="11299"/>
                    <a:pt x="6888" y="6888"/>
                  </a:cubicBezTo>
                  <a:cubicBezTo>
                    <a:pt x="11299" y="2478"/>
                    <a:pt x="17281" y="0"/>
                    <a:pt x="23519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6858000" cy="3038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RELOADABLE ASSETS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firmware over UART + data on microSD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6667500" y="4667250"/>
            <a:ext cx="4848836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TextBox 14"/>
          <p:cNvSpPr txBox="1"/>
          <p:nvPr/>
        </p:nvSpPr>
        <p:spPr>
          <a:xfrm>
            <a:off x="1809750" y="6238875"/>
            <a:ext cx="457200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Rebuild only when the FPGA hardware changes.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0" y="6238875"/>
            <a:ext cx="447675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Programs, weights and inputs can change without place-and-route.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67625" y="4067175"/>
            <a:ext cx="295275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5"/>
              </a:lnSpc>
              <a:spcBef>
                <a:spcPct val="0"/>
              </a:spcBef>
            </a:pPr>
            <a:r>
              <a:rPr lang="en-US" sz="1425" b="1" u="none" strike="noStrike" spc="114">
                <a:solidFill>
                  <a:srgbClr val="63F0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stable accelerator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Freeform 6" descr="Implemented RISC-V CNN SoC architecture"/>
          <p:cNvSpPr/>
          <p:nvPr/>
        </p:nvSpPr>
        <p:spPr>
          <a:xfrm>
            <a:off x="1659401" y="1602164"/>
            <a:ext cx="15430500" cy="7934325"/>
          </a:xfrm>
          <a:custGeom>
            <a:avLst/>
            <a:gdLst/>
            <a:ahLst/>
            <a:cxnLst/>
            <a:rect l="l" t="t" r="r" b="b"/>
            <a:pathLst>
              <a:path w="15430500" h="7934325">
                <a:moveTo>
                  <a:pt x="0" y="0"/>
                </a:moveTo>
                <a:lnTo>
                  <a:pt x="15430500" y="0"/>
                </a:lnTo>
                <a:lnTo>
                  <a:pt x="15430500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8" b="-8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Boot, Inference and Reload Sequence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A fixed FPGA image supports a repeatable boot, inference and firmware-reload path.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3810000"/>
            <a:ext cx="2381250" cy="1619250"/>
            <a:chOff x="0" y="0"/>
            <a:chExt cx="3175000" cy="215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  Restore hardware from Flash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3524250" y="4619625"/>
            <a:ext cx="48129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3962400" y="3810000"/>
            <a:ext cx="2381250" cy="1619250"/>
            <a:chOff x="0" y="0"/>
            <a:chExt cx="3175000" cy="2159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  Load IMEM + DMEM over UART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343650" y="4619625"/>
            <a:ext cx="504355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6781800" y="3810000"/>
            <a:ext cx="2381250" cy="1619250"/>
            <a:chOff x="0" y="0"/>
            <a:chExt cx="3175000" cy="2159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  Validate RCN1 + load sample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9163050" y="4619625"/>
            <a:ext cx="573551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9601200" y="3810000"/>
            <a:ext cx="2381250" cy="1619250"/>
            <a:chOff x="0" y="0"/>
            <a:chExt cx="3175000" cy="2159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  Conv1 / Conv2 in RTL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11982450" y="4596560"/>
            <a:ext cx="527420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2420600" y="3810000"/>
            <a:ext cx="2381250" cy="1619250"/>
            <a:chOff x="0" y="0"/>
            <a:chExt cx="3175000" cy="2159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  Complete layers + HDMI result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4801850" y="4619625"/>
            <a:ext cx="52742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5240000" y="3810000"/>
            <a:ext cx="2381250" cy="1619250"/>
            <a:chOff x="0" y="0"/>
            <a:chExt cx="3175000" cy="2159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  Hold reload input ~0.5 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334000" y="6810375"/>
            <a:ext cx="76200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63F0C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Control-plane reload ≠ FPGA reconfiguration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42950"/>
            <a:ext cx="14287500" cy="66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4725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RV32I Core and UART-Loaded Instruction Memory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3333750" y="4025060"/>
            <a:ext cx="92345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" name="AutoShape 7"/>
          <p:cNvSpPr/>
          <p:nvPr/>
        </p:nvSpPr>
        <p:spPr>
          <a:xfrm>
            <a:off x="7143750" y="4048125"/>
            <a:ext cx="95250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>
            <a:off x="10572750" y="4048125"/>
            <a:ext cx="95250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AutoShape 9"/>
          <p:cNvSpPr/>
          <p:nvPr/>
        </p:nvSpPr>
        <p:spPr>
          <a:xfrm>
            <a:off x="14001750" y="4048125"/>
            <a:ext cx="85426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10"/>
          <p:cNvSpPr/>
          <p:nvPr/>
        </p:nvSpPr>
        <p:spPr>
          <a:xfrm flipV="1">
            <a:off x="5715000" y="4791545"/>
            <a:ext cx="0" cy="1780705"/>
          </a:xfrm>
          <a:prstGeom prst="line">
            <a:avLst/>
          </a:prstGeom>
          <a:ln w="38100" cap="rnd">
            <a:solidFill>
              <a:srgbClr val="FF8A3D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TextBox 11"/>
          <p:cNvSpPr txBox="1"/>
          <p:nvPr/>
        </p:nvSpPr>
        <p:spPr>
          <a:xfrm>
            <a:off x="9525000" y="6524625"/>
            <a:ext cx="7334250" cy="246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Standalone validation build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 KiB instruction memory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133 instructions, 532 bytes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UART at 115,200 baud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6 / 6 instruction groups passed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02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Integrated AI SoC uses separate 8 KiB IMEM and 8 KiB DMEM.</a:t>
            </a:r>
          </a:p>
        </p:txBody>
      </p:sp>
      <p:sp>
        <p:nvSpPr>
          <p:cNvPr id="12" name="Freeform 12" descr="Tang Nano 20K standalone RV32I UART validation setup"/>
          <p:cNvSpPr/>
          <p:nvPr/>
        </p:nvSpPr>
        <p:spPr>
          <a:xfrm>
            <a:off x="1524000" y="2000250"/>
            <a:ext cx="4762500" cy="6381750"/>
          </a:xfrm>
          <a:custGeom>
            <a:avLst/>
            <a:gdLst/>
            <a:ahLst/>
            <a:cxnLst/>
            <a:rect l="l" t="t" r="r" b="b"/>
            <a:pathLst>
              <a:path w="4762500" h="6381750">
                <a:moveTo>
                  <a:pt x="0" y="0"/>
                </a:moveTo>
                <a:lnTo>
                  <a:pt x="4762500" y="0"/>
                </a:lnTo>
                <a:lnTo>
                  <a:pt x="4762500" y="6381750"/>
                </a:lnTo>
                <a:lnTo>
                  <a:pt x="0" y="638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" r="-166"/>
            </a:stretch>
          </a:blipFill>
        </p:spPr>
      </p:sp>
      <p:sp>
        <p:nvSpPr>
          <p:cNvPr id="13" name="Freeform 13" descr="UART terminal output showing all six RV32I test groups passed"/>
          <p:cNvSpPr/>
          <p:nvPr/>
        </p:nvSpPr>
        <p:spPr>
          <a:xfrm>
            <a:off x="8763000" y="2476500"/>
            <a:ext cx="7620000" cy="3752850"/>
          </a:xfrm>
          <a:custGeom>
            <a:avLst/>
            <a:gdLst/>
            <a:ahLst/>
            <a:cxnLst/>
            <a:rect l="l" t="t" r="r" b="b"/>
            <a:pathLst>
              <a:path w="7620000" h="3752850">
                <a:moveTo>
                  <a:pt x="0" y="0"/>
                </a:moveTo>
                <a:lnTo>
                  <a:pt x="7620000" y="0"/>
                </a:lnTo>
                <a:lnTo>
                  <a:pt x="76200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" r="-61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LeNet-Inspired INT8 Inference Pipeline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Signed INT8 activations and weights, INT16 products and INT32 accumulators.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0125" y="3714750"/>
            <a:ext cx="2362200" cy="1714500"/>
            <a:chOff x="0" y="0"/>
            <a:chExt cx="3149600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INPUT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 × 28 × 28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3362325" y="4502805"/>
            <a:ext cx="626686" cy="6919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3876675" y="3714750"/>
            <a:ext cx="2362200" cy="1714500"/>
            <a:chOff x="0" y="0"/>
            <a:chExt cx="3149600" cy="228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CONV1 + RELU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16 × 28 × 28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334125" y="4572000"/>
            <a:ext cx="41910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6753225" y="3714750"/>
            <a:ext cx="2362200" cy="1714500"/>
            <a:chOff x="0" y="0"/>
            <a:chExt cx="3149600" cy="228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POOL1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16 × 14 × 14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9210675" y="4572000"/>
            <a:ext cx="41910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9629775" y="3714750"/>
            <a:ext cx="2362200" cy="1714500"/>
            <a:chOff x="0" y="0"/>
            <a:chExt cx="3149600" cy="2286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CONV2 + RELU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32 × 14 × 14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1991975" y="4572000"/>
            <a:ext cx="53442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2506325" y="3714750"/>
            <a:ext cx="2362200" cy="1714500"/>
            <a:chOff x="0" y="0"/>
            <a:chExt cx="3149600" cy="2286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POOL2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32 × 7 × 7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4868525" y="4572000"/>
            <a:ext cx="53442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5382875" y="3714750"/>
            <a:ext cx="2362200" cy="1714500"/>
            <a:chOff x="0" y="0"/>
            <a:chExt cx="3149600" cy="2286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FC1 128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FC2 10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571750" y="6829425"/>
            <a:ext cx="1314450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Conv1 and Conv2 run in RTL. Pooling, requantization, FC1, FC2 and Argmax run in RV32I firmware. The accelerated convolutions represent 83.4% of learned-layer MACs, not a measured speedup.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4 × 4 Convolution Accelerator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Sixteen PEs map four output positions by four output channels with boundary masks.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334500" y="3857625"/>
            <a:ext cx="1134031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TextBox 8"/>
          <p:cNvSpPr txBox="1"/>
          <p:nvPr/>
        </p:nvSpPr>
        <p:spPr>
          <a:xfrm>
            <a:off x="11391344" y="2622365"/>
            <a:ext cx="5982256" cy="309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Peak: 16 signed INT8 MACs/cycle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F4F8FC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 activation lanes (row broadcast)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 weight lanes (column broadcast)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F4F8FC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Local buffers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3,136 INT8 inputs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4,608 INT8 weights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12,544 INT32 outputs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F4F8FC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States: IDLE • CHECK • RUN • DONE • ERROR</a:t>
            </a:r>
          </a:p>
        </p:txBody>
      </p:sp>
      <p:sp>
        <p:nvSpPr>
          <p:cNvPr id="9" name="Freeform 9" descr="Four by four PE array mapping from the project report"/>
          <p:cNvSpPr/>
          <p:nvPr/>
        </p:nvSpPr>
        <p:spPr>
          <a:xfrm>
            <a:off x="1143000" y="2381250"/>
            <a:ext cx="10001250" cy="5400675"/>
          </a:xfrm>
          <a:custGeom>
            <a:avLst/>
            <a:gdLst/>
            <a:ahLst/>
            <a:cxnLst/>
            <a:rect l="l" t="t" r="r" b="b"/>
            <a:pathLst>
              <a:path w="10001250" h="5400675">
                <a:moveTo>
                  <a:pt x="0" y="0"/>
                </a:moveTo>
                <a:lnTo>
                  <a:pt x="10001250" y="0"/>
                </a:lnTo>
                <a:lnTo>
                  <a:pt x="10001250" y="5400675"/>
                </a:lnTo>
                <a:lnTo>
                  <a:pt x="0" y="5400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microSD Data and Firmware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4875" y="3333750"/>
            <a:ext cx="2762250" cy="1809750"/>
            <a:chOff x="0" y="0"/>
            <a:chExt cx="3683000" cy="241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HOST PREPROCESS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PNG • JPG • JPEG • BMP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3667125" y="4238625"/>
            <a:ext cx="825216" cy="6919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4333875" y="3333750"/>
            <a:ext cx="2762250" cy="1809750"/>
            <a:chOff x="0" y="0"/>
            <a:chExt cx="3683000" cy="241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RCN1 V3 RAW IMAGE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model + 100 records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7096125" y="4238625"/>
            <a:ext cx="73295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7762875" y="3333750"/>
            <a:ext cx="2762250" cy="1809750"/>
            <a:chOff x="0" y="0"/>
            <a:chExt cx="3683000" cy="241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SECTOR WRITE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+ read-back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0525125" y="4238625"/>
            <a:ext cx="802151" cy="4613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1191875" y="3333750"/>
            <a:ext cx="2762250" cy="1809750"/>
            <a:chOff x="0" y="0"/>
            <a:chExt cx="3683000" cy="241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CRC32 VERIFY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image + record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3954125" y="4238625"/>
            <a:ext cx="756020" cy="4613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4620875" y="3333750"/>
            <a:ext cx="2762250" cy="1809750"/>
            <a:chOff x="0" y="0"/>
            <a:chExt cx="3683000" cy="2413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VALID COMMIT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then AI Runtime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714750" y="6619875"/>
            <a:ext cx="108585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>
                <a:solidFill>
                  <a:srgbClr val="FF8A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290,816 bytes • 568 sectors • 100 fixed sample slots • incomplete updates never become valid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Integrated Board Demonstration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A repeatable host-to-board workflow with real UART, microSD and HDMI evidence.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2000" y="6858000"/>
            <a:ext cx="4953000" cy="1047750"/>
            <a:chOff x="0" y="0"/>
            <a:chExt cx="6604000" cy="139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0" cy="1397000"/>
            </a:xfrm>
            <a:custGeom>
              <a:avLst/>
              <a:gdLst/>
              <a:ahLst/>
              <a:cxnLst/>
              <a:rect l="l" t="t" r="r" b="b"/>
              <a:pathLst>
                <a:path w="6604000" h="1397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372577"/>
                  </a:lnTo>
                  <a:cubicBezTo>
                    <a:pt x="6604000" y="1379054"/>
                    <a:pt x="6601427" y="1385266"/>
                    <a:pt x="6596847" y="1389847"/>
                  </a:cubicBezTo>
                  <a:cubicBezTo>
                    <a:pt x="6592267" y="1394427"/>
                    <a:pt x="6586055" y="1397000"/>
                    <a:pt x="6579577" y="1397000"/>
                  </a:cubicBezTo>
                  <a:lnTo>
                    <a:pt x="24423" y="1397000"/>
                  </a:lnTo>
                  <a:cubicBezTo>
                    <a:pt x="17946" y="1397000"/>
                    <a:pt x="11734" y="1394427"/>
                    <a:pt x="7153" y="1389847"/>
                  </a:cubicBezTo>
                  <a:cubicBezTo>
                    <a:pt x="2573" y="1385266"/>
                    <a:pt x="0" y="1379054"/>
                    <a:pt x="0" y="1372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6604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CONTROL CENTER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connect • program • load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0748" y="6840187"/>
            <a:ext cx="4953000" cy="1047750"/>
            <a:chOff x="0" y="0"/>
            <a:chExt cx="6604000" cy="139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4000" cy="1397000"/>
            </a:xfrm>
            <a:custGeom>
              <a:avLst/>
              <a:gdLst/>
              <a:ahLst/>
              <a:cxnLst/>
              <a:rect l="l" t="t" r="r" b="b"/>
              <a:pathLst>
                <a:path w="6604000" h="1397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372577"/>
                  </a:lnTo>
                  <a:cubicBezTo>
                    <a:pt x="6604000" y="1379054"/>
                    <a:pt x="6601427" y="1385266"/>
                    <a:pt x="6596847" y="1389847"/>
                  </a:cubicBezTo>
                  <a:cubicBezTo>
                    <a:pt x="6592267" y="1394427"/>
                    <a:pt x="6586055" y="1397000"/>
                    <a:pt x="6579577" y="1397000"/>
                  </a:cubicBezTo>
                  <a:lnTo>
                    <a:pt x="24423" y="1397000"/>
                  </a:lnTo>
                  <a:cubicBezTo>
                    <a:pt x="17946" y="1397000"/>
                    <a:pt x="11734" y="1394427"/>
                    <a:pt x="7153" y="1389847"/>
                  </a:cubicBezTo>
                  <a:cubicBezTo>
                    <a:pt x="2573" y="1385266"/>
                    <a:pt x="0" y="1379054"/>
                    <a:pt x="0" y="1372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6604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TANG NANO 20K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USB-UART • microSD • HDMI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73000" y="6858000"/>
            <a:ext cx="4953000" cy="1047750"/>
            <a:chOff x="0" y="0"/>
            <a:chExt cx="6604000" cy="139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4000" cy="1397000"/>
            </a:xfrm>
            <a:custGeom>
              <a:avLst/>
              <a:gdLst/>
              <a:ahLst/>
              <a:cxnLst/>
              <a:rect l="l" t="t" r="r" b="b"/>
              <a:pathLst>
                <a:path w="6604000" h="1397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372577"/>
                  </a:lnTo>
                  <a:cubicBezTo>
                    <a:pt x="6604000" y="1379054"/>
                    <a:pt x="6601427" y="1385266"/>
                    <a:pt x="6596847" y="1389847"/>
                  </a:cubicBezTo>
                  <a:cubicBezTo>
                    <a:pt x="6592267" y="1394427"/>
                    <a:pt x="6586055" y="1397000"/>
                    <a:pt x="6579577" y="1397000"/>
                  </a:cubicBezTo>
                  <a:lnTo>
                    <a:pt x="24423" y="1397000"/>
                  </a:lnTo>
                  <a:cubicBezTo>
                    <a:pt x="17946" y="1397000"/>
                    <a:pt x="11734" y="1394427"/>
                    <a:pt x="7153" y="1389847"/>
                  </a:cubicBezTo>
                  <a:cubicBezTo>
                    <a:pt x="2573" y="1385266"/>
                    <a:pt x="0" y="1379054"/>
                    <a:pt x="0" y="1372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6604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HDMI RESULT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image • class • confidence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3810000" y="4429125"/>
            <a:ext cx="185289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7" name="Freeform 17" descr="AI FPGA Control Center connected to the board"/>
          <p:cNvSpPr/>
          <p:nvPr/>
        </p:nvSpPr>
        <p:spPr>
          <a:xfrm>
            <a:off x="762000" y="2571750"/>
            <a:ext cx="4953000" cy="3714750"/>
          </a:xfrm>
          <a:custGeom>
            <a:avLst/>
            <a:gdLst/>
            <a:ahLst/>
            <a:cxnLst/>
            <a:rect l="l" t="t" r="r" b="b"/>
            <a:pathLst>
              <a:path w="4953000" h="3714750">
                <a:moveTo>
                  <a:pt x="0" y="0"/>
                </a:moveTo>
                <a:lnTo>
                  <a:pt x="4953000" y="0"/>
                </a:lnTo>
                <a:lnTo>
                  <a:pt x="49530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66" r="-16666"/>
            </a:stretch>
          </a:blipFill>
        </p:spPr>
      </p:sp>
      <p:sp>
        <p:nvSpPr>
          <p:cNvPr id="18" name="Freeform 18" descr="Tang Nano 20K board demonstration setup"/>
          <p:cNvSpPr/>
          <p:nvPr/>
        </p:nvSpPr>
        <p:spPr>
          <a:xfrm>
            <a:off x="6667500" y="2571750"/>
            <a:ext cx="4953000" cy="3714750"/>
          </a:xfrm>
          <a:custGeom>
            <a:avLst/>
            <a:gdLst/>
            <a:ahLst/>
            <a:cxnLst/>
            <a:rect l="l" t="t" r="r" b="b"/>
            <a:pathLst>
              <a:path w="4953000" h="3714750">
                <a:moveTo>
                  <a:pt x="0" y="0"/>
                </a:moveTo>
                <a:lnTo>
                  <a:pt x="4953000" y="0"/>
                </a:lnTo>
                <a:lnTo>
                  <a:pt x="49530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66" r="-16666"/>
            </a:stretch>
          </a:blipFill>
        </p:spPr>
      </p:sp>
      <p:sp>
        <p:nvSpPr>
          <p:cNvPr id="19" name="Freeform 19" descr="HDMI handwritten digit inference result"/>
          <p:cNvSpPr/>
          <p:nvPr/>
        </p:nvSpPr>
        <p:spPr>
          <a:xfrm>
            <a:off x="12573000" y="2571750"/>
            <a:ext cx="4953000" cy="3714750"/>
          </a:xfrm>
          <a:custGeom>
            <a:avLst/>
            <a:gdLst/>
            <a:ahLst/>
            <a:cxnLst/>
            <a:rect l="l" t="t" r="r" b="b"/>
            <a:pathLst>
              <a:path w="4953000" h="3714750">
                <a:moveTo>
                  <a:pt x="0" y="0"/>
                </a:moveTo>
                <a:lnTo>
                  <a:pt x="4953000" y="0"/>
                </a:lnTo>
                <a:lnTo>
                  <a:pt x="49530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66" r="-16666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Verification Strategy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Verification progresses from arithmetic and tensor references to full firmware and board behavior.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00250" y="6572250"/>
            <a:ext cx="14287500" cy="1000125"/>
            <a:chOff x="0" y="0"/>
            <a:chExt cx="19050000" cy="1333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050000" cy="1333500"/>
            </a:xfrm>
            <a:custGeom>
              <a:avLst/>
              <a:gdLst/>
              <a:ahLst/>
              <a:cxnLst/>
              <a:rect l="l" t="t" r="r" b="b"/>
              <a:pathLst>
                <a:path w="19050000" h="1333500">
                  <a:moveTo>
                    <a:pt x="8467" y="0"/>
                  </a:moveTo>
                  <a:lnTo>
                    <a:pt x="19041534" y="0"/>
                  </a:lnTo>
                  <a:cubicBezTo>
                    <a:pt x="19046210" y="0"/>
                    <a:pt x="19050000" y="3791"/>
                    <a:pt x="19050000" y="8467"/>
                  </a:cubicBezTo>
                  <a:lnTo>
                    <a:pt x="19050000" y="1325033"/>
                  </a:lnTo>
                  <a:cubicBezTo>
                    <a:pt x="19050000" y="1329709"/>
                    <a:pt x="19046210" y="1333500"/>
                    <a:pt x="19041534" y="1333500"/>
                  </a:cubicBezTo>
                  <a:lnTo>
                    <a:pt x="8467" y="1333500"/>
                  </a:lnTo>
                  <a:cubicBezTo>
                    <a:pt x="3791" y="1333500"/>
                    <a:pt x="0" y="1329709"/>
                    <a:pt x="0" y="1325033"/>
                  </a:cubicBezTo>
                  <a:lnTo>
                    <a:pt x="0" y="8467"/>
                  </a:lnTo>
                  <a:cubicBezTo>
                    <a:pt x="0" y="3791"/>
                    <a:pt x="3791" y="0"/>
                    <a:pt x="8467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9050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BOARD: all 6 RV32I groups passed • UART logs • HDMI evidence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43250" y="5381625"/>
            <a:ext cx="12001500" cy="1000125"/>
            <a:chOff x="0" y="0"/>
            <a:chExt cx="16002000" cy="1333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002000" cy="1333500"/>
            </a:xfrm>
            <a:custGeom>
              <a:avLst/>
              <a:gdLst/>
              <a:ahLst/>
              <a:cxnLst/>
              <a:rect l="l" t="t" r="r" b="b"/>
              <a:pathLst>
                <a:path w="16002000" h="1333500">
                  <a:moveTo>
                    <a:pt x="10079" y="0"/>
                  </a:moveTo>
                  <a:lnTo>
                    <a:pt x="15991920" y="0"/>
                  </a:lnTo>
                  <a:cubicBezTo>
                    <a:pt x="15994594" y="0"/>
                    <a:pt x="15997157" y="1062"/>
                    <a:pt x="15999048" y="2952"/>
                  </a:cubicBezTo>
                  <a:cubicBezTo>
                    <a:pt x="16000938" y="4842"/>
                    <a:pt x="16002000" y="7406"/>
                    <a:pt x="16002000" y="10079"/>
                  </a:cubicBezTo>
                  <a:lnTo>
                    <a:pt x="16002000" y="1323421"/>
                  </a:lnTo>
                  <a:cubicBezTo>
                    <a:pt x="16002000" y="1326094"/>
                    <a:pt x="16000938" y="1328658"/>
                    <a:pt x="15999048" y="1330548"/>
                  </a:cubicBezTo>
                  <a:cubicBezTo>
                    <a:pt x="15997157" y="1332438"/>
                    <a:pt x="15994594" y="1333500"/>
                    <a:pt x="15991920" y="1333500"/>
                  </a:cubicBezTo>
                  <a:lnTo>
                    <a:pt x="10079" y="1333500"/>
                  </a:lnTo>
                  <a:cubicBezTo>
                    <a:pt x="7406" y="1333500"/>
                    <a:pt x="4842" y="1332438"/>
                    <a:pt x="2952" y="1330548"/>
                  </a:cubicBezTo>
                  <a:cubicBezTo>
                    <a:pt x="1062" y="1328658"/>
                    <a:pt x="0" y="1326094"/>
                    <a:pt x="0" y="1323421"/>
                  </a:cubicBezTo>
                  <a:lnTo>
                    <a:pt x="0" y="10079"/>
                  </a:lnTo>
                  <a:cubicBezTo>
                    <a:pt x="0" y="7406"/>
                    <a:pt x="1062" y="4842"/>
                    <a:pt x="2952" y="2952"/>
                  </a:cubicBezTo>
                  <a:cubicBezTo>
                    <a:pt x="4842" y="1062"/>
                    <a:pt x="7406" y="0"/>
                    <a:pt x="10079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6002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SYSTEM: UART-loaded firmware • SDHC model • full CNN regression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86250" y="4191000"/>
            <a:ext cx="9715500" cy="1000125"/>
            <a:chOff x="0" y="0"/>
            <a:chExt cx="12954000" cy="1333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54000" cy="1333500"/>
            </a:xfrm>
            <a:custGeom>
              <a:avLst/>
              <a:gdLst/>
              <a:ahLst/>
              <a:cxnLst/>
              <a:rect l="l" t="t" r="r" b="b"/>
              <a:pathLst>
                <a:path w="12954000" h="1333500">
                  <a:moveTo>
                    <a:pt x="12451" y="0"/>
                  </a:moveTo>
                  <a:lnTo>
                    <a:pt x="12941549" y="0"/>
                  </a:lnTo>
                  <a:cubicBezTo>
                    <a:pt x="12948426" y="0"/>
                    <a:pt x="12954000" y="5574"/>
                    <a:pt x="12954000" y="12451"/>
                  </a:cubicBezTo>
                  <a:lnTo>
                    <a:pt x="12954000" y="1321049"/>
                  </a:lnTo>
                  <a:cubicBezTo>
                    <a:pt x="12954000" y="1327926"/>
                    <a:pt x="12948426" y="1333500"/>
                    <a:pt x="12941549" y="1333500"/>
                  </a:cubicBezTo>
                  <a:lnTo>
                    <a:pt x="12451" y="1333500"/>
                  </a:lnTo>
                  <a:cubicBezTo>
                    <a:pt x="5574" y="1333500"/>
                    <a:pt x="0" y="1327926"/>
                    <a:pt x="0" y="1321049"/>
                  </a:cubicBezTo>
                  <a:lnTo>
                    <a:pt x="0" y="12451"/>
                  </a:lnTo>
                  <a:cubicBezTo>
                    <a:pt x="0" y="5574"/>
                    <a:pt x="5574" y="0"/>
                    <a:pt x="12451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954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RTL: MAC • PE array • buffers • address generation • MMIO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29250" y="3000375"/>
            <a:ext cx="7429500" cy="1000125"/>
            <a:chOff x="0" y="0"/>
            <a:chExt cx="9906000" cy="1333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06000" cy="1333500"/>
            </a:xfrm>
            <a:custGeom>
              <a:avLst/>
              <a:gdLst/>
              <a:ahLst/>
              <a:cxnLst/>
              <a:rect l="l" t="t" r="r" b="b"/>
              <a:pathLst>
                <a:path w="9906000" h="1333500">
                  <a:moveTo>
                    <a:pt x="16282" y="0"/>
                  </a:moveTo>
                  <a:lnTo>
                    <a:pt x="9889718" y="0"/>
                  </a:lnTo>
                  <a:cubicBezTo>
                    <a:pt x="9894036" y="0"/>
                    <a:pt x="9898178" y="1715"/>
                    <a:pt x="9901231" y="4769"/>
                  </a:cubicBezTo>
                  <a:cubicBezTo>
                    <a:pt x="9904285" y="7822"/>
                    <a:pt x="9906000" y="11964"/>
                    <a:pt x="9906000" y="16282"/>
                  </a:cubicBezTo>
                  <a:lnTo>
                    <a:pt x="9906000" y="1317218"/>
                  </a:lnTo>
                  <a:cubicBezTo>
                    <a:pt x="9906000" y="1321536"/>
                    <a:pt x="9904285" y="1325678"/>
                    <a:pt x="9901231" y="1328731"/>
                  </a:cubicBezTo>
                  <a:cubicBezTo>
                    <a:pt x="9898178" y="1331785"/>
                    <a:pt x="9894036" y="1333500"/>
                    <a:pt x="9889718" y="1333500"/>
                  </a:cubicBezTo>
                  <a:lnTo>
                    <a:pt x="16282" y="1333500"/>
                  </a:lnTo>
                  <a:cubicBezTo>
                    <a:pt x="11964" y="1333500"/>
                    <a:pt x="7822" y="1331785"/>
                    <a:pt x="4769" y="1328731"/>
                  </a:cubicBezTo>
                  <a:cubicBezTo>
                    <a:pt x="1715" y="1325678"/>
                    <a:pt x="0" y="1321536"/>
                    <a:pt x="0" y="1317218"/>
                  </a:cubicBezTo>
                  <a:lnTo>
                    <a:pt x="0" y="16282"/>
                  </a:lnTo>
                  <a:cubicBezTo>
                    <a:pt x="0" y="11964"/>
                    <a:pt x="1715" y="7822"/>
                    <a:pt x="4769" y="4769"/>
                  </a:cubicBezTo>
                  <a:cubicBezTo>
                    <a:pt x="7822" y="1715"/>
                    <a:pt x="11964" y="0"/>
                    <a:pt x="16282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9906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MODEL: Float32 and integer references • golden tensors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971550"/>
            <a:ext cx="14287500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Verified Model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recorded model and integer-reference results are presented as quantitative evidence.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61" y="1845935"/>
            <a:ext cx="11964828" cy="764288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573000" y="2733675"/>
            <a:ext cx="4476750" cy="331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YET RECORDED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endParaRPr lang="en-US" sz="187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Physical-board accuracy across all 100 samples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End-to-end latency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Software-only RV32I baseline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Measured accelerator speedup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endParaRPr lang="en-US" sz="187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These results are intentionally not claimed.</a:t>
            </a:r>
          </a:p>
        </p:txBody>
      </p:sp>
      <p:sp>
        <p:nvSpPr>
          <p:cNvPr id="9" name="Freeform 9" descr="Verified accuracy chart for Float32, simulated INT8 and custom integer reference results"/>
          <p:cNvSpPr/>
          <p:nvPr/>
        </p:nvSpPr>
        <p:spPr>
          <a:xfrm>
            <a:off x="857250" y="2333625"/>
            <a:ext cx="11049000" cy="6257925"/>
          </a:xfrm>
          <a:custGeom>
            <a:avLst/>
            <a:gdLst/>
            <a:ahLst/>
            <a:cxnLst/>
            <a:rect l="l" t="t" r="r" b="b"/>
            <a:pathLst>
              <a:path w="11049000" h="6257925">
                <a:moveTo>
                  <a:pt x="0" y="0"/>
                </a:moveTo>
                <a:lnTo>
                  <a:pt x="11049000" y="0"/>
                </a:lnTo>
                <a:lnTo>
                  <a:pt x="11049000" y="6257925"/>
                </a:lnTo>
                <a:lnTo>
                  <a:pt x="0" y="6257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" b="-25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FPGA Implementation and Timing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Final Gowin post-place-and-route evidence for the Tang Nano 20K target.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507336" y="6215956"/>
            <a:ext cx="4572000" cy="375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Logic 15,715 / 20,736  •  76%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Registers 3,264 / 15,750  •  21%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BSRAM 46 / 46  •  100%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DSP 22 / 24  •  92%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endParaRPr lang="en-US" sz="187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Setup passes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SoC target 5.4 MHz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Reported Fmax 6.617 MHz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endParaRPr lang="en-US" sz="187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15 hold-violated endpoints remain.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 timing closure is not claimed.</a:t>
            </a:r>
          </a:p>
        </p:txBody>
      </p:sp>
      <p:sp>
        <p:nvSpPr>
          <p:cNvPr id="8" name="Freeform 8" descr="Gowin FPGA resource usage summary"/>
          <p:cNvSpPr/>
          <p:nvPr/>
        </p:nvSpPr>
        <p:spPr>
          <a:xfrm>
            <a:off x="139243" y="2190750"/>
            <a:ext cx="9229703" cy="5202113"/>
          </a:xfrm>
          <a:custGeom>
            <a:avLst/>
            <a:gdLst/>
            <a:ahLst/>
            <a:cxnLst/>
            <a:rect l="l" t="t" r="r" b="b"/>
            <a:pathLst>
              <a:path w="9229703" h="5202113">
                <a:moveTo>
                  <a:pt x="0" y="0"/>
                </a:moveTo>
                <a:lnTo>
                  <a:pt x="9229703" y="0"/>
                </a:lnTo>
                <a:lnTo>
                  <a:pt x="9229703" y="5202113"/>
                </a:lnTo>
                <a:lnTo>
                  <a:pt x="0" y="5202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7" r="-777"/>
            </a:stretch>
          </a:blipFill>
        </p:spPr>
      </p:sp>
      <p:sp>
        <p:nvSpPr>
          <p:cNvPr id="9" name="Freeform 9" descr="Gowin timing analysis summary"/>
          <p:cNvSpPr/>
          <p:nvPr/>
        </p:nvSpPr>
        <p:spPr>
          <a:xfrm>
            <a:off x="9507336" y="2190750"/>
            <a:ext cx="8297949" cy="3855720"/>
          </a:xfrm>
          <a:custGeom>
            <a:avLst/>
            <a:gdLst/>
            <a:ahLst/>
            <a:cxnLst/>
            <a:rect l="l" t="t" r="r" b="b"/>
            <a:pathLst>
              <a:path w="8297949" h="3855720">
                <a:moveTo>
                  <a:pt x="0" y="0"/>
                </a:moveTo>
                <a:lnTo>
                  <a:pt x="8297950" y="0"/>
                </a:lnTo>
                <a:lnTo>
                  <a:pt x="8297950" y="3855720"/>
                </a:lnTo>
                <a:lnTo>
                  <a:pt x="0" y="3855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" r="-62" b="-2481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What the Project Delivers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3429000"/>
            <a:ext cx="3333750" cy="2000250"/>
            <a:chOff x="0" y="0"/>
            <a:chExt cx="4445000" cy="2667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5000" cy="2667000"/>
            </a:xfrm>
            <a:custGeom>
              <a:avLst/>
              <a:gdLst/>
              <a:ahLst/>
              <a:cxnLst/>
              <a:rect l="l" t="t" r="r" b="b"/>
              <a:pathLst>
                <a:path w="4445000" h="2667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630714"/>
                  </a:lnTo>
                  <a:cubicBezTo>
                    <a:pt x="4445000" y="2650754"/>
                    <a:pt x="4428754" y="2667000"/>
                    <a:pt x="4408714" y="2667000"/>
                  </a:cubicBezTo>
                  <a:lnTo>
                    <a:pt x="36286" y="2667000"/>
                  </a:lnTo>
                  <a:cubicBezTo>
                    <a:pt x="16246" y="2667000"/>
                    <a:pt x="0" y="2650754"/>
                    <a:pt x="0" y="2630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4445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RELOADABLE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RV32I FIRMWARE</a:t>
              </a:r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4381500" y="4406060"/>
            <a:ext cx="97257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5334000" y="3429000"/>
            <a:ext cx="3333750" cy="2000250"/>
            <a:chOff x="0" y="0"/>
            <a:chExt cx="4445000" cy="266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2667000"/>
            </a:xfrm>
            <a:custGeom>
              <a:avLst/>
              <a:gdLst/>
              <a:ahLst/>
              <a:cxnLst/>
              <a:rect l="l" t="t" r="r" b="b"/>
              <a:pathLst>
                <a:path w="4445000" h="2667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630714"/>
                  </a:lnTo>
                  <a:cubicBezTo>
                    <a:pt x="4445000" y="2650754"/>
                    <a:pt x="4428754" y="2667000"/>
                    <a:pt x="4408714" y="2667000"/>
                  </a:cubicBezTo>
                  <a:lnTo>
                    <a:pt x="36286" y="2667000"/>
                  </a:lnTo>
                  <a:cubicBezTo>
                    <a:pt x="16246" y="2667000"/>
                    <a:pt x="0" y="2650754"/>
                    <a:pt x="0" y="2630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4445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INT8 CNN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ACCELERATOR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8667750" y="4406060"/>
            <a:ext cx="101870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9620250" y="3429000"/>
            <a:ext cx="3333750" cy="2000250"/>
            <a:chOff x="0" y="0"/>
            <a:chExt cx="4445000" cy="2667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45000" cy="2667000"/>
            </a:xfrm>
            <a:custGeom>
              <a:avLst/>
              <a:gdLst/>
              <a:ahLst/>
              <a:cxnLst/>
              <a:rect l="l" t="t" r="r" b="b"/>
              <a:pathLst>
                <a:path w="4445000" h="2667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630714"/>
                  </a:lnTo>
                  <a:cubicBezTo>
                    <a:pt x="4445000" y="2650754"/>
                    <a:pt x="4428754" y="2667000"/>
                    <a:pt x="4408714" y="2667000"/>
                  </a:cubicBezTo>
                  <a:lnTo>
                    <a:pt x="36286" y="2667000"/>
                  </a:lnTo>
                  <a:cubicBezTo>
                    <a:pt x="16246" y="2667000"/>
                    <a:pt x="0" y="2650754"/>
                    <a:pt x="0" y="2630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445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microSD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ASSET PIPELINE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2954000" y="4429125"/>
            <a:ext cx="99564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3906500" y="3429000"/>
            <a:ext cx="3333750" cy="2000250"/>
            <a:chOff x="0" y="0"/>
            <a:chExt cx="4445000" cy="2667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2667000"/>
            </a:xfrm>
            <a:custGeom>
              <a:avLst/>
              <a:gdLst/>
              <a:ahLst/>
              <a:cxnLst/>
              <a:rect l="l" t="t" r="r" b="b"/>
              <a:pathLst>
                <a:path w="4445000" h="2667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630714"/>
                  </a:lnTo>
                  <a:cubicBezTo>
                    <a:pt x="4445000" y="2650754"/>
                    <a:pt x="4428754" y="2667000"/>
                    <a:pt x="4408714" y="2667000"/>
                  </a:cubicBezTo>
                  <a:lnTo>
                    <a:pt x="36286" y="2667000"/>
                  </a:lnTo>
                  <a:cubicBezTo>
                    <a:pt x="16246" y="2667000"/>
                    <a:pt x="0" y="2650754"/>
                    <a:pt x="0" y="2630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4445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UART + HDMI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OBSERVABILITY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76500" y="6838950"/>
            <a:ext cx="1333500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2100" b="1" u="none" strike="noStrike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The project combines RTL, C firmware, Python host tools, INT8 model artifacts, verification environments and physical-board evidence. Next priorities: hold closure, cycle counters, a version-matched 100-sample board log and a software-only RV32I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334750" y="2356565"/>
            <a:ext cx="6526370" cy="6526370"/>
          </a:xfrm>
          <a:custGeom>
            <a:avLst/>
            <a:gdLst/>
            <a:ahLst/>
            <a:cxnLst/>
            <a:rect l="l" t="t" r="r" b="b"/>
            <a:pathLst>
              <a:path w="6526370" h="6526370">
                <a:moveTo>
                  <a:pt x="0" y="0"/>
                </a:moveTo>
                <a:lnTo>
                  <a:pt x="6526370" y="0"/>
                </a:lnTo>
                <a:lnTo>
                  <a:pt x="6526370" y="6526370"/>
                </a:lnTo>
                <a:lnTo>
                  <a:pt x="0" y="6526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Project Repository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code, technical documentation, implementation evidence and project demonstrations.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3500" y="3200400"/>
            <a:ext cx="9144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63F0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GITHUB REPOSITORY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3500" y="3762375"/>
            <a:ext cx="100012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u="sng" strike="noStrike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  <a:hlinkClick r:id="rId3" tooltip="https://github.com/NguyenKT0911/Embedded-system-final"/>
              </a:rPr>
              <a:t>https://github.com/NguyenKT0911/Embedded-system-final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3500" y="5581650"/>
            <a:ext cx="9144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63F0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YOUTUBE PLAYLIST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3500" y="6153150"/>
            <a:ext cx="10096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sng" strike="noStrike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  <a:hlinkClick r:id="rId4" tooltip="https://www.youtube.com/playlist?list=PLU8j17gnRm0I"/>
              </a:rPr>
              <a:t>https://www.youtube.com/playlist?list=PLU8j17gnRm0I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93350" y="8951595"/>
            <a:ext cx="4095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Scan to open the repository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3500" y="8067675"/>
            <a:ext cx="1000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8"/>
              </a:lnSpc>
              <a:spcBef>
                <a:spcPct val="0"/>
              </a:spcBef>
            </a:pPr>
            <a:r>
              <a:rPr lang="en-US" sz="1725" u="none" strike="noStrike">
                <a:solidFill>
                  <a:srgbClr val="FF8A3D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 7 • Ho Chi Minh City University of Technology and Engineering •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Microsoft Office PowerPoint</Application>
  <PresentationFormat>Custom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IBM Plex Sans</vt:lpstr>
      <vt:lpstr>IBM Plex Sans Bold</vt:lpstr>
      <vt:lpstr>Sinar Grotesk Bold</vt:lpstr>
      <vt:lpstr>Arial</vt:lpstr>
      <vt:lpstr>IBM Plex Mono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 CNN Accelerator on Tang Nano 20K</dc:title>
  <cp:lastModifiedBy>Admin</cp:lastModifiedBy>
  <cp:revision>2</cp:revision>
  <dcterms:created xsi:type="dcterms:W3CDTF">2006-08-16T00:00:00Z</dcterms:created>
  <dcterms:modified xsi:type="dcterms:W3CDTF">2026-10-28T15:46:30Z</dcterms:modified>
  <dc:identifier>DAHZTYHwgaA</dc:identifier>
</cp:coreProperties>
</file>